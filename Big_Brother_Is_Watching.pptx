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8.png" ContentType="image/png"/>
  <Override PartName="/ppt/media/image55.gif" ContentType="image/gif"/>
  <Override PartName="/ppt/media/image56.png" ContentType="image/png"/>
  <Override PartName="/ppt/media/image53.gif" ContentType="image/gif"/>
  <Override PartName="/ppt/media/image54.gif" ContentType="image/gif"/>
  <Override PartName="/ppt/media/image57.png" ContentType="image/png"/>
  <Override PartName="/ppt/media/image52.gif" ContentType="image/gif"/>
  <Override PartName="/ppt/media/image51.gif" ContentType="image/gif"/>
  <Override PartName="/ppt/media/image46.gif" ContentType="image/gif"/>
  <Override PartName="/ppt/media/image49.png" ContentType="image/png"/>
  <Override PartName="/ppt/media/image45.gif" ContentType="image/gif"/>
  <Override PartName="/ppt/media/image48.png" ContentType="image/png"/>
  <Override PartName="/ppt/media/image44.gif" ContentType="image/gif"/>
  <Override PartName="/ppt/media/image43.gif" ContentType="image/gif"/>
  <Override PartName="/ppt/media/image42.png" ContentType="image/png"/>
  <Override PartName="/ppt/media/image41.png" ContentType="image/png"/>
  <Override PartName="/ppt/media/image22.gif" ContentType="image/gif"/>
  <Override PartName="/ppt/media/image59.gif" ContentType="image/gif"/>
  <Override PartName="/ppt/media/image14.gif" ContentType="image/gif"/>
  <Override PartName="/ppt/media/image50.png" ContentType="image/png"/>
  <Override PartName="/ppt/media/image15.gif" ContentType="image/gif"/>
  <Override PartName="/ppt/media/image18.png" ContentType="image/png"/>
  <Override PartName="/ppt/media/image20.png" ContentType="image/png"/>
  <Override PartName="/ppt/media/image16.gif" ContentType="image/gif"/>
  <Override PartName="/ppt/media/image19.png" ContentType="image/png"/>
  <Override PartName="/ppt/media/image17.gif" ContentType="image/gif"/>
  <Override PartName="/ppt/media/image5.gif" ContentType="image/gif"/>
  <Override PartName="/ppt/media/image25.gif" ContentType="image/gif"/>
  <Override PartName="/ppt/media/image28.png" ContentType="image/png"/>
  <Override PartName="/ppt/media/image21.gif" ContentType="image/gif"/>
  <Override PartName="/ppt/media/image60.gif" ContentType="image/gif"/>
  <Override PartName="/ppt/media/image61.gif" ContentType="image/gif"/>
  <Override PartName="/ppt/media/image64.png" ContentType="image/png"/>
  <Override PartName="/ppt/media/image29.gif" ContentType="image/gif"/>
  <Override PartName="/ppt/media/image73.gif" ContentType="image/gif"/>
  <Override PartName="/ppt/media/image75.png" ContentType="image/png"/>
  <Override PartName="/ppt/media/image72.gif" ContentType="image/gif"/>
  <Override PartName="/ppt/media/image71.gif" ContentType="image/gif"/>
  <Override PartName="/ppt/media/image74.png" ContentType="image/png"/>
  <Override PartName="/ppt/media/image9.gif" ContentType="image/gif"/>
  <Override PartName="/ppt/media/image39.gif" ContentType="image/gif"/>
  <Override PartName="/ppt/media/image69.gif" ContentType="image/gif"/>
  <Override PartName="/ppt/media/image70.gif" ContentType="image/gif"/>
  <Override PartName="/ppt/media/image68.gif" ContentType="image/gif"/>
  <Override PartName="/ppt/media/image67.gif" ContentType="image/gif"/>
  <Override PartName="/ppt/media/image65.png" ContentType="image/png"/>
  <Override PartName="/ppt/media/image62.gif" ContentType="image/gif"/>
  <Override PartName="/ppt/media/image66.png" ContentType="image/png"/>
  <Override PartName="/ppt/media/image63.gif" ContentType="image/gif"/>
  <Override PartName="/ppt/media/image2.png" ContentType="image/png"/>
  <Override PartName="/ppt/media/image26.png" ContentType="image/png"/>
  <Override PartName="/ppt/media/image23.gif" ContentType="image/gif"/>
  <Override PartName="/ppt/media/image3.png" ContentType="image/png"/>
  <Override PartName="/ppt/media/image30.gif" ContentType="image/gif"/>
  <Override PartName="/ppt/media/image33.png" ContentType="image/png"/>
  <Override PartName="/ppt/media/image27.png" ContentType="image/png"/>
  <Override PartName="/ppt/media/image24.gif" ContentType="image/gif"/>
  <Override PartName="/ppt/media/image1.gif" ContentType="image/gif"/>
  <Override PartName="/ppt/media/image4.png" ContentType="image/png"/>
  <Override PartName="/ppt/media/image31.gif" ContentType="image/gif"/>
  <Override PartName="/ppt/media/image34.png" ContentType="image/png"/>
  <Override PartName="/ppt/media/image6.gif" ContentType="image/gif"/>
  <Override PartName="/ppt/media/image36.gif" ContentType="image/gif"/>
  <Override PartName="/ppt/media/image7.gif" ContentType="image/gif"/>
  <Override PartName="/ppt/media/image37.gif" ContentType="image/gif"/>
  <Override PartName="/ppt/media/image8.gif" ContentType="image/gif"/>
  <Override PartName="/ppt/media/image38.gif" ContentType="image/gif"/>
  <Override PartName="/ppt/media/image11.png" ContentType="image/png"/>
  <Override PartName="/ppt/media/image12.png" ContentType="image/png"/>
  <Override PartName="/ppt/media/image47.gif" ContentType="image/gif"/>
  <Override PartName="/ppt/media/image10.gif" ContentType="image/gif"/>
  <Override PartName="/ppt/media/image13.png" ContentType="image/png"/>
  <Override PartName="/ppt/media/image32.gif" ContentType="image/gif"/>
  <Override PartName="/ppt/media/image35.png" ContentType="image/png"/>
  <Override PartName="/ppt/media/image40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7F91E0-E65C-4AF6-AFF4-B8F4F4C620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E7E61E-262E-494D-9A97-154CC8C29B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9B3A74-24CA-4C26-9D4F-E0A0A9E757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FDDD1E-3B6D-482D-A959-C35D386D09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2B44C2-3C28-4343-A881-37B817908E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48F56E-E5E4-4FB2-A5AB-B39B66B61D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C0070D-CC9B-4A1B-884A-8674589A62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4FF462-F10C-4E62-8099-32907C9AFB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12583B-9CE7-45B9-AB38-9D733B05DB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980948-8F1E-4B9F-83A7-85A7F70C90E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C53D2E-6E8F-4295-8C52-9DF456FB02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08ACD4-4D5D-4E62-B7B8-D5769F0F91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48CC615-2C2A-4D66-BC9F-D9A3C847607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gif"/><Relationship Id="rId6" Type="http://schemas.openxmlformats.org/officeDocument/2006/relationships/image" Target="../media/image6.gif"/><Relationship Id="rId7" Type="http://schemas.openxmlformats.org/officeDocument/2006/relationships/image" Target="../media/image7.gif"/><Relationship Id="rId8" Type="http://schemas.openxmlformats.org/officeDocument/2006/relationships/image" Target="../media/image8.gif"/><Relationship Id="rId9" Type="http://schemas.openxmlformats.org/officeDocument/2006/relationships/image" Target="../media/image9.gif"/><Relationship Id="rId10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gif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gif"/><Relationship Id="rId6" Type="http://schemas.openxmlformats.org/officeDocument/2006/relationships/image" Target="../media/image15.gif"/><Relationship Id="rId7" Type="http://schemas.openxmlformats.org/officeDocument/2006/relationships/image" Target="../media/image16.gif"/><Relationship Id="rId8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7.gif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gif"/><Relationship Id="rId6" Type="http://schemas.openxmlformats.org/officeDocument/2006/relationships/image" Target="../media/image22.gif"/><Relationship Id="rId7" Type="http://schemas.openxmlformats.org/officeDocument/2006/relationships/image" Target="../media/image23.gif"/><Relationship Id="rId8" Type="http://schemas.openxmlformats.org/officeDocument/2006/relationships/image" Target="../media/image24.gif"/><Relationship Id="rId9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5.gif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gif"/><Relationship Id="rId6" Type="http://schemas.openxmlformats.org/officeDocument/2006/relationships/image" Target="../media/image30.gif"/><Relationship Id="rId7" Type="http://schemas.openxmlformats.org/officeDocument/2006/relationships/image" Target="../media/image31.gif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2.gif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gif"/><Relationship Id="rId6" Type="http://schemas.openxmlformats.org/officeDocument/2006/relationships/image" Target="../media/image37.gif"/><Relationship Id="rId7" Type="http://schemas.openxmlformats.org/officeDocument/2006/relationships/image" Target="../media/image38.gif"/><Relationship Id="rId8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9.gif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gif"/><Relationship Id="rId6" Type="http://schemas.openxmlformats.org/officeDocument/2006/relationships/image" Target="../media/image44.gif"/><Relationship Id="rId7" Type="http://schemas.openxmlformats.org/officeDocument/2006/relationships/image" Target="../media/image45.gif"/><Relationship Id="rId8" Type="http://schemas.openxmlformats.org/officeDocument/2006/relationships/image" Target="../media/image46.gif"/><Relationship Id="rId9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7.gif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gif"/><Relationship Id="rId6" Type="http://schemas.openxmlformats.org/officeDocument/2006/relationships/image" Target="../media/image52.gif"/><Relationship Id="rId7" Type="http://schemas.openxmlformats.org/officeDocument/2006/relationships/image" Target="../media/image53.gif"/><Relationship Id="rId8" Type="http://schemas.openxmlformats.org/officeDocument/2006/relationships/image" Target="../media/image54.gif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5.gif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gif"/><Relationship Id="rId6" Type="http://schemas.openxmlformats.org/officeDocument/2006/relationships/image" Target="../media/image60.gif"/><Relationship Id="rId7" Type="http://schemas.openxmlformats.org/officeDocument/2006/relationships/image" Target="../media/image61.gif"/><Relationship Id="rId8" Type="http://schemas.openxmlformats.org/officeDocument/2006/relationships/image" Target="../media/image62.gif"/><Relationship Id="rId9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3.gif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gif"/><Relationship Id="rId6" Type="http://schemas.openxmlformats.org/officeDocument/2006/relationships/image" Target="../media/image68.gif"/><Relationship Id="rId7" Type="http://schemas.openxmlformats.org/officeDocument/2006/relationships/image" Target="../media/image69.gif"/><Relationship Id="rId8" Type="http://schemas.openxmlformats.org/officeDocument/2006/relationships/image" Target="../media/image70.gif"/><Relationship Id="rId9" Type="http://schemas.openxmlformats.org/officeDocument/2006/relationships/image" Target="../media/image71.gif"/><Relationship Id="rId10" Type="http://schemas.openxmlformats.org/officeDocument/2006/relationships/image" Target="../media/image72.gif"/><Relationship Id="rId11" Type="http://schemas.openxmlformats.org/officeDocument/2006/relationships/image" Target="../media/image73.gif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43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44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47" name="Picture 7" descr="dangling_spider.gif"/>
          <p:cNvPicPr/>
          <p:nvPr/>
        </p:nvPicPr>
        <p:blipFill>
          <a:blip r:embed="rId7"/>
          <a:stretch/>
        </p:blipFill>
        <p:spPr>
          <a:xfrm>
            <a:off x="5760720" y="91440"/>
            <a:ext cx="548280" cy="191988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8" descr="blinking_eyes.gif"/>
          <p:cNvPicPr/>
          <p:nvPr/>
        </p:nvPicPr>
        <p:blipFill>
          <a:blip r:embed="rId8"/>
          <a:stretch/>
        </p:blipFill>
        <p:spPr>
          <a:xfrm>
            <a:off x="4754880" y="640080"/>
            <a:ext cx="2559960" cy="1005480"/>
          </a:xfrm>
          <a:prstGeom prst="rect">
            <a:avLst/>
          </a:prstGeom>
          <a:ln w="0">
            <a:noFill/>
          </a:ln>
        </p:spPr>
      </p:pic>
      <p:pic>
        <p:nvPicPr>
          <p:cNvPr id="49" name="Picture 9" descr="glitch_overlay.gif"/>
          <p:cNvPicPr/>
          <p:nvPr/>
        </p:nvPicPr>
        <p:blipFill>
          <a:blip r:embed="rId9"/>
          <a:stretch/>
        </p:blipFill>
        <p:spPr>
          <a:xfrm>
            <a:off x="1011600" y="2278800"/>
            <a:ext cx="10058040" cy="822600"/>
          </a:xfrm>
          <a:prstGeom prst="rect">
            <a:avLst/>
          </a:prstGeom>
          <a:ln w="0">
            <a:noFill/>
          </a:ln>
        </p:spPr>
      </p:pic>
      <p:sp>
        <p:nvSpPr>
          <p:cNvPr id="50" name="TextBox 10"/>
          <p:cNvSpPr/>
          <p:nvPr/>
        </p:nvSpPr>
        <p:spPr>
          <a:xfrm>
            <a:off x="900000" y="2117160"/>
            <a:ext cx="1005804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2800" spc="-1" strike="noStrike">
                <a:solidFill>
                  <a:srgbClr val="ffffff"/>
                </a:solidFill>
                <a:latin typeface="Courier New"/>
              </a:rPr>
              <a:t>"Big Brother is watching...</a:t>
            </a:r>
            <a:br>
              <a:rPr sz="2800"/>
            </a:br>
            <a:r>
              <a:rPr b="1" i="1" lang="en-US" sz="2800" spc="-1" strike="noStrike">
                <a:solidFill>
                  <a:srgbClr val="ffffff"/>
                </a:solidFill>
                <a:latin typeface="Courier New"/>
              </a:rPr>
              <a:t>but do you know who Big Brother is?"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Box 11"/>
          <p:cNvSpPr/>
          <p:nvPr/>
        </p:nvSpPr>
        <p:spPr>
          <a:xfrm>
            <a:off x="1371600" y="3566160"/>
            <a:ext cx="9143640" cy="14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600" spc="-1" strike="noStrike">
                <a:solidFill>
                  <a:srgbClr val="ff0000"/>
                </a:solidFill>
                <a:latin typeface="Courier New"/>
              </a:rPr>
              <a:t>ARE YOU REALLY IN CHARGE</a:t>
            </a:r>
            <a:br>
              <a:rPr sz="4600"/>
            </a:br>
            <a:r>
              <a:rPr b="1" lang="en-US" sz="4600" spc="-1" strike="noStrike">
                <a:solidFill>
                  <a:srgbClr val="ff0000"/>
                </a:solidFill>
                <a:latin typeface="Courier New"/>
              </a:rPr>
              <a:t>OF WHAT YOU SEE?</a:t>
            </a:r>
            <a:endParaRPr b="0" lang="en-GB" sz="4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52" name="TextBox 12"/>
          <p:cNvSpPr/>
          <p:nvPr/>
        </p:nvSpPr>
        <p:spPr>
          <a:xfrm>
            <a:off x="2743200" y="5303520"/>
            <a:ext cx="6400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8b0000"/>
                </a:solidFill>
                <a:latin typeface="Courier New"/>
              </a:rPr>
              <a:t>▓▒░  </a:t>
            </a:r>
            <a:r>
              <a:rPr b="0" lang="en-US" sz="1600" spc="-1" strike="noStrike">
                <a:solidFill>
                  <a:srgbClr val="8b0000"/>
                </a:solidFill>
                <a:latin typeface="Courier New"/>
              </a:rPr>
              <a:t>SCROLL IF YOU DARE  ░▒▓</a:t>
            </a:r>
            <a:endParaRPr b="0" lang="en-GB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54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55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56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58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7" descr="dangling_spider.gif"/>
          <p:cNvPicPr/>
          <p:nvPr/>
        </p:nvPicPr>
        <p:blipFill>
          <a:blip r:embed="rId7"/>
          <a:stretch/>
        </p:blipFill>
        <p:spPr>
          <a:xfrm>
            <a:off x="11155680" y="182880"/>
            <a:ext cx="548280" cy="1919880"/>
          </a:xfrm>
          <a:prstGeom prst="rect">
            <a:avLst/>
          </a:prstGeom>
          <a:ln w="0">
            <a:noFill/>
          </a:ln>
        </p:spPr>
      </p:pic>
      <p:sp>
        <p:nvSpPr>
          <p:cNvPr id="60" name="TextBox 8"/>
          <p:cNvSpPr/>
          <p:nvPr/>
        </p:nvSpPr>
        <p:spPr>
          <a:xfrm>
            <a:off x="457200" y="731520"/>
            <a:ext cx="10972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cc0000"/>
                </a:solidFill>
                <a:latin typeface="Courier New"/>
              </a:rPr>
              <a:t>WHAT IS THE INTERNET ASSOCIATION?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61" name="TextBox 9"/>
          <p:cNvSpPr/>
          <p:nvPr/>
        </p:nvSpPr>
        <p:spPr>
          <a:xfrm>
            <a:off x="1828800" y="1828800"/>
            <a:ext cx="8229240" cy="34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Founded 2012  ·  Dissolved 2021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A trade group for the biggest internet companies.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Status: ACTIVE until shutdown.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Headquartered in Washington, D.C.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Peak membership: ~40 companies.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Members don't leave — unless they go bankrupt.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It's too profitable to stay.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2" name="TextBox 10"/>
          <p:cNvSpPr/>
          <p:nvPr/>
        </p:nvSpPr>
        <p:spPr>
          <a:xfrm>
            <a:off x="914400" y="5486400"/>
            <a:ext cx="10058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999999"/>
                </a:solidFill>
                <a:latin typeface="Courier New"/>
              </a:rPr>
              <a:t>[placeholder: photo of IA members at inauguration]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64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65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66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69" name="Picture 7" descr="dangling_spider.gif"/>
          <p:cNvPicPr/>
          <p:nvPr/>
        </p:nvPicPr>
        <p:blipFill>
          <a:blip r:embed="rId7"/>
          <a:stretch/>
        </p:blipFill>
        <p:spPr>
          <a:xfrm>
            <a:off x="274320" y="91440"/>
            <a:ext cx="548280" cy="1919880"/>
          </a:xfrm>
          <a:prstGeom prst="rect">
            <a:avLst/>
          </a:prstGeom>
          <a:ln w="0">
            <a:noFill/>
          </a:ln>
        </p:spPr>
      </p:pic>
      <p:pic>
        <p:nvPicPr>
          <p:cNvPr id="70" name="Picture 8" descr="blinking_eyes.gif"/>
          <p:cNvPicPr/>
          <p:nvPr/>
        </p:nvPicPr>
        <p:blipFill>
          <a:blip r:embed="rId8"/>
          <a:stretch/>
        </p:blipFill>
        <p:spPr>
          <a:xfrm>
            <a:off x="4754880" y="822960"/>
            <a:ext cx="2559960" cy="1005480"/>
          </a:xfrm>
          <a:prstGeom prst="rect">
            <a:avLst/>
          </a:prstGeom>
          <a:ln w="0">
            <a:noFill/>
          </a:ln>
        </p:spPr>
      </p:pic>
      <p:sp>
        <p:nvSpPr>
          <p:cNvPr id="71" name="TextBox 9"/>
          <p:cNvSpPr/>
          <p:nvPr/>
        </p:nvSpPr>
        <p:spPr>
          <a:xfrm>
            <a:off x="457200" y="731520"/>
            <a:ext cx="10972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cc0000"/>
                </a:solidFill>
                <a:latin typeface="Courier New"/>
              </a:rPr>
              <a:t>WHO ARE THE MEMBERS?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914400" y="1188720"/>
            <a:ext cx="10058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600" spc="-1" strike="noStrike">
                <a:solidFill>
                  <a:srgbClr val="999999"/>
                </a:solidFill>
                <a:latin typeface="Courier New"/>
              </a:rPr>
              <a:t>They never really leave.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73" name="TextBox 11"/>
          <p:cNvSpPr/>
          <p:nvPr/>
        </p:nvSpPr>
        <p:spPr>
          <a:xfrm>
            <a:off x="731520" y="2103120"/>
            <a:ext cx="10515240" cy="32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Amazon               ▪ AOL                  ▪ eBay     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Expedia              ▪ Facebook             ▪ Google   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IAC                  ▪ LinkedIn             ▪ Monster Worldwide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Rackspace            ▪ Salesforce           ▪ TripAdvisor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Yahoo                ▪ Zynga                ▪ Airbnb   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Dropbox              ▪ DoorDash             ▪ Etsy     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Glassdoor            ▪ Grubhub              ▪ Handy    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Indeed               ▪ Lyft                 ▪ Microsoft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Netflix              ▪ Pandora              ▪ PayPal   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Pinterest            ▪ Postmates            ▪ Reddit      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Snap Inc             ▪ Spotify              ▪ SurveyMonkey      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20"/>
              </a:spcAft>
              <a:buNone/>
            </a:pP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▪ </a:t>
            </a:r>
            <a:r>
              <a:rPr b="0" lang="en-US" sz="1400" spc="-1" strike="noStrike">
                <a:solidFill>
                  <a:srgbClr val="e8e8e8"/>
                </a:solidFill>
                <a:latin typeface="Courier New"/>
              </a:rPr>
              <a:t>Twitter              ▪ Uber                 ▪ Zillow Group      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914400" y="5486400"/>
            <a:ext cx="100580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300" spc="-1" strike="noStrike">
                <a:solidFill>
                  <a:srgbClr val="999999"/>
                </a:solidFill>
                <a:latin typeface="Courier New"/>
              </a:rPr>
              <a:t>[placeholder: IA members collage with scratched eyes]</a:t>
            </a:r>
            <a:endParaRPr b="0" lang="en-GB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7" descr="dangling_spider.gif"/>
          <p:cNvPicPr/>
          <p:nvPr/>
        </p:nvPicPr>
        <p:blipFill>
          <a:blip r:embed="rId7"/>
          <a:stretch/>
        </p:blipFill>
        <p:spPr>
          <a:xfrm>
            <a:off x="5760720" y="45720"/>
            <a:ext cx="548280" cy="1919880"/>
          </a:xfrm>
          <a:prstGeom prst="rect">
            <a:avLst/>
          </a:prstGeom>
          <a:ln w="0">
            <a:noFill/>
          </a:ln>
        </p:spPr>
      </p:pic>
      <p:sp>
        <p:nvSpPr>
          <p:cNvPr id="82" name="TextBox 8"/>
          <p:cNvSpPr/>
          <p:nvPr/>
        </p:nvSpPr>
        <p:spPr>
          <a:xfrm>
            <a:off x="457200" y="731520"/>
            <a:ext cx="10972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cc0000"/>
                </a:solidFill>
                <a:latin typeface="Courier New"/>
              </a:rPr>
              <a:t>WHERE ARE THEY?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457200" y="1188720"/>
            <a:ext cx="109724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999999"/>
                </a:solidFill>
                <a:latin typeface="Courier New"/>
              </a:rPr>
              <a:t>IA offices sit in the exact states pushing the most privacy bills.</a:t>
            </a:r>
            <a:endParaRPr b="0" lang="en-GB" sz="1400" spc="-1" strike="noStrike">
              <a:latin typeface="Arial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274320" y="1645920"/>
            <a:ext cx="5486040" cy="411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8b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5" name="TextBox 11"/>
          <p:cNvSpPr/>
          <p:nvPr/>
        </p:nvSpPr>
        <p:spPr>
          <a:xfrm>
            <a:off x="457200" y="1737360"/>
            <a:ext cx="50288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aa00"/>
                </a:solidFill>
                <a:latin typeface="Courier New"/>
              </a:rPr>
              <a:t>IA OFFICE LOCATIONS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457200" y="2286000"/>
            <a:ext cx="5028840" cy="14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  ◉ </a:t>
            </a: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HQ  Washington, DC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  ○     </a:t>
            </a: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Albany, NY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  ○     </a:t>
            </a: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Chicago, IL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  ○     </a:t>
            </a: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Seattle, WA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  ○     </a:t>
            </a: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Sacramento, CA</a:t>
            </a:r>
            <a:endParaRPr b="0" lang="en-GB" sz="1500" spc="-1" strike="noStrike">
              <a:latin typeface="Arial"/>
            </a:endParaRPr>
          </a:p>
        </p:txBody>
      </p:sp>
      <p:sp>
        <p:nvSpPr>
          <p:cNvPr id="87" name="Rectangle 13"/>
          <p:cNvSpPr/>
          <p:nvPr/>
        </p:nvSpPr>
        <p:spPr>
          <a:xfrm>
            <a:off x="6217920" y="1645920"/>
            <a:ext cx="5668920" cy="411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8b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8" name="TextBox 14"/>
          <p:cNvSpPr/>
          <p:nvPr/>
        </p:nvSpPr>
        <p:spPr>
          <a:xfrm>
            <a:off x="6400800" y="1737360"/>
            <a:ext cx="5303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ffaa00"/>
                </a:solidFill>
                <a:latin typeface="Courier New"/>
              </a:rPr>
              <a:t>PRIVACY BILLS BY STATE (2019)</a:t>
            </a:r>
            <a:endParaRPr b="0" lang="en-GB" sz="1600" spc="-1" strike="noStrike">
              <a:latin typeface="Arial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6400800" y="2286000"/>
            <a:ext cx="5303160" cy="18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CA █████████████████████████ 25 ◄ IA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NY ██████████████████████░░░ 22 ◄ IA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IL ██████████████████░░░░░░░ 18 ◄ IA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WA ███████████████░░░░░░░░░░ 15 ◄ IA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MA ████████████░░░░░░░░░░░░░ 12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NJ █████████░░░░░░░░░░░░░░░░ 9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TX ████████░░░░░░░░░░░░░░░░░ 8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</a:pP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 </a:t>
            </a:r>
            <a:r>
              <a:rPr b="0" lang="en-US" sz="1200" spc="-1" strike="noStrike">
                <a:solidFill>
                  <a:srgbClr val="00cc66"/>
                </a:solidFill>
                <a:latin typeface="Courier New"/>
              </a:rPr>
              <a:t>FL ███████░░░░░░░░░░░░░░░░░░ 7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6400800" y="4937760"/>
            <a:ext cx="5303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cc0000"/>
                </a:solidFill>
                <a:latin typeface="Courier New"/>
              </a:rPr>
              <a:t>Notice the overlap?</a:t>
            </a:r>
            <a:endParaRPr b="0" lang="en-GB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92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sp>
        <p:nvSpPr>
          <p:cNvPr id="97" name="TextBox 7"/>
          <p:cNvSpPr/>
          <p:nvPr/>
        </p:nvSpPr>
        <p:spPr>
          <a:xfrm>
            <a:off x="457200" y="731520"/>
            <a:ext cx="10972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cc0000"/>
                </a:solidFill>
                <a:latin typeface="Courier New"/>
              </a:rPr>
              <a:t>HOW MUCH ARE THEY SPENDING?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457200" y="1188720"/>
            <a:ext cx="109724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999999"/>
                </a:solidFill>
                <a:latin typeface="Courier New"/>
              </a:rPr>
              <a:t>IA Federal Lobbying — Year by Year</a:t>
            </a:r>
            <a:endParaRPr b="0" lang="en-GB" sz="1400" spc="-1" strike="noStrike">
              <a:latin typeface="Arial"/>
            </a:endParaRPr>
          </a:p>
        </p:txBody>
      </p:sp>
      <p:pic>
        <p:nvPicPr>
          <p:cNvPr id="99" name="Picture 9" descr="bar_chart_lobbying.gif"/>
          <p:cNvPicPr/>
          <p:nvPr/>
        </p:nvPicPr>
        <p:blipFill>
          <a:blip r:embed="rId7"/>
          <a:stretch/>
        </p:blipFill>
        <p:spPr>
          <a:xfrm>
            <a:off x="731520" y="1645920"/>
            <a:ext cx="7131960" cy="4114440"/>
          </a:xfrm>
          <a:prstGeom prst="rect">
            <a:avLst/>
          </a:prstGeom>
          <a:ln w="0">
            <a:noFill/>
          </a:ln>
        </p:spPr>
      </p:pic>
      <p:sp>
        <p:nvSpPr>
          <p:cNvPr id="100" name="Rectangle 10"/>
          <p:cNvSpPr/>
          <p:nvPr/>
        </p:nvSpPr>
        <p:spPr>
          <a:xfrm>
            <a:off x="8229600" y="1645920"/>
            <a:ext cx="3657240" cy="4114440"/>
          </a:xfrm>
          <a:prstGeom prst="rect">
            <a:avLst/>
          </a:prstGeom>
          <a:solidFill>
            <a:srgbClr val="111111"/>
          </a:solidFill>
          <a:ln w="12700">
            <a:solidFill>
              <a:srgbClr val="8b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TextBox 11"/>
          <p:cNvSpPr/>
          <p:nvPr/>
        </p:nvSpPr>
        <p:spPr>
          <a:xfrm>
            <a:off x="8412480" y="1828800"/>
            <a:ext cx="3291480" cy="23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Total: $13.9M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Peak: $2.4M (2017)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22 lobbyists at peak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Top issues: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· Consumer Protection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· Privacy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e8e8e8"/>
                </a:solidFill>
                <a:latin typeface="Courier New"/>
              </a:rPr>
              <a:t>· Telecom / Taxes</a:t>
            </a:r>
            <a:endParaRPr b="0" lang="en-GB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103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04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05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08" name="Picture 7" descr="dangling_spider.gif"/>
          <p:cNvPicPr/>
          <p:nvPr/>
        </p:nvPicPr>
        <p:blipFill>
          <a:blip r:embed="rId7"/>
          <a:stretch/>
        </p:blipFill>
        <p:spPr>
          <a:xfrm>
            <a:off x="11430000" y="91440"/>
            <a:ext cx="548280" cy="1919880"/>
          </a:xfrm>
          <a:prstGeom prst="rect">
            <a:avLst/>
          </a:prstGeom>
          <a:ln w="0">
            <a:noFill/>
          </a:ln>
        </p:spPr>
      </p:pic>
      <p:sp>
        <p:nvSpPr>
          <p:cNvPr id="109" name="TextBox 8"/>
          <p:cNvSpPr/>
          <p:nvPr/>
        </p:nvSpPr>
        <p:spPr>
          <a:xfrm>
            <a:off x="457200" y="731520"/>
            <a:ext cx="10972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cc0000"/>
                </a:solidFill>
                <a:latin typeface="Courier New"/>
              </a:rPr>
              <a:t>WHO'S SPENDING THE MOST?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110" name="TextBox 9"/>
          <p:cNvSpPr/>
          <p:nvPr/>
        </p:nvSpPr>
        <p:spPr>
          <a:xfrm>
            <a:off x="914400" y="118872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999999"/>
                </a:solidFill>
                <a:latin typeface="Courier New"/>
              </a:rPr>
              <a:t>Top internet sector lobbying spenders (2020)</a:t>
            </a:r>
            <a:endParaRPr b="0" lang="en-GB" sz="1400" spc="-1" strike="noStrike">
              <a:latin typeface="Arial"/>
            </a:endParaRPr>
          </a:p>
        </p:txBody>
      </p:sp>
      <p:pic>
        <p:nvPicPr>
          <p:cNvPr id="111" name="Picture 10" descr="pie_chart_spenders.gif"/>
          <p:cNvPicPr/>
          <p:nvPr/>
        </p:nvPicPr>
        <p:blipFill>
          <a:blip r:embed="rId8"/>
          <a:stretch/>
        </p:blipFill>
        <p:spPr>
          <a:xfrm>
            <a:off x="457200" y="1554480"/>
            <a:ext cx="6400440" cy="4845960"/>
          </a:xfrm>
          <a:prstGeom prst="rect">
            <a:avLst/>
          </a:prstGeom>
          <a:ln w="0">
            <a:noFill/>
          </a:ln>
        </p:spPr>
      </p:pic>
      <p:sp>
        <p:nvSpPr>
          <p:cNvPr id="112" name="Rectangle 11"/>
          <p:cNvSpPr/>
          <p:nvPr/>
        </p:nvSpPr>
        <p:spPr>
          <a:xfrm>
            <a:off x="7315200" y="1554480"/>
            <a:ext cx="4571640" cy="4845960"/>
          </a:xfrm>
          <a:prstGeom prst="rect">
            <a:avLst/>
          </a:prstGeom>
          <a:solidFill>
            <a:srgbClr val="111111"/>
          </a:solidFill>
          <a:ln w="12700">
            <a:solidFill>
              <a:srgbClr val="8b00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TextBox 12"/>
          <p:cNvSpPr/>
          <p:nvPr/>
        </p:nvSpPr>
        <p:spPr>
          <a:xfrm>
            <a:off x="7498080" y="1737360"/>
            <a:ext cx="4205880" cy="28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9 of the top 10 spenders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were IA members.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Facebook: $19.7M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Amazon:   $18.7M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Google:    $8.9M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The companies harvesting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the most data spend the</a:t>
            </a:r>
            <a:endParaRPr b="0" lang="en-GB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51"/>
              </a:spcAft>
              <a:buNone/>
            </a:pPr>
            <a:r>
              <a:rPr b="0" lang="en-US" sz="1500" spc="-1" strike="noStrike">
                <a:solidFill>
                  <a:srgbClr val="00cc66"/>
                </a:solidFill>
                <a:latin typeface="Courier New"/>
              </a:rPr>
              <a:t>most to keep it legal.</a:t>
            </a:r>
            <a:endParaRPr b="0" lang="en-GB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16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118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7" descr="dangling_spider.gif"/>
          <p:cNvPicPr/>
          <p:nvPr/>
        </p:nvPicPr>
        <p:blipFill>
          <a:blip r:embed="rId7"/>
          <a:stretch/>
        </p:blipFill>
        <p:spPr>
          <a:xfrm>
            <a:off x="182880" y="45720"/>
            <a:ext cx="548280" cy="191988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8" descr="glitch_overlay.gif"/>
          <p:cNvPicPr/>
          <p:nvPr/>
        </p:nvPicPr>
        <p:blipFill>
          <a:blip r:embed="rId8"/>
          <a:stretch/>
        </p:blipFill>
        <p:spPr>
          <a:xfrm>
            <a:off x="914400" y="914400"/>
            <a:ext cx="10058040" cy="639720"/>
          </a:xfrm>
          <a:prstGeom prst="rect">
            <a:avLst/>
          </a:prstGeom>
          <a:ln w="0">
            <a:noFill/>
          </a:ln>
        </p:spPr>
      </p:pic>
      <p:sp>
        <p:nvSpPr>
          <p:cNvPr id="122" name="TextBox 9"/>
          <p:cNvSpPr/>
          <p:nvPr/>
        </p:nvSpPr>
        <p:spPr>
          <a:xfrm>
            <a:off x="457200" y="731520"/>
            <a:ext cx="10972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cc0000"/>
                </a:solidFill>
                <a:latin typeface="Courier New"/>
              </a:rPr>
              <a:t>THE BILLS THEY KILLED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914400" y="1371600"/>
            <a:ext cx="10058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cc0000"/>
                </a:solidFill>
                <a:latin typeface="Courier New"/>
              </a:rPr>
              <a:t>73% — When IA opposed a bill, it usually died.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24" name="TextBox 11"/>
          <p:cNvSpPr/>
          <p:nvPr/>
        </p:nvSpPr>
        <p:spPr>
          <a:xfrm>
            <a:off x="457200" y="2103120"/>
            <a:ext cx="10972440" cy="37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HB2411     BIOMETRIC DATA-COMMERCIAL USE    2017-2018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SB1502     RIGHT TO KNOW ACT                2017-2018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HB2774     RIGHT TO KNOW ACT                2017-2018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HB3449     GEOLOCATION PRIVACY PROTECTION   2017-2018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SB1719     KEEP INTERNET DEVICES SAFE ACT   2019-2020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HB2785     GEOLOCATION PRIVACY PROTECTION   2019-2020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HB3358     BUSINESS-TECH (Data Transparency) 2019-2020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SB2089     STUDENT ONLINE PROTECTION        2019-2020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HB3606     STUDENT ONLINE PROTECTION        2019-2020  ⚠ SURVIVED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HB3357     DATA PRIVACY ACT                 2019-2020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HB2404     RIGHT TO KNOW ACT                2021-2022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SB1578     STUDENT ONLINE PROTECTION        2021-2022  ⚠ SURVIVED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SB2081     KEEP INTERNET DEVICES SAFE ACT   2021-2022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HB2880     DIGITAL IDENTITY ASSET-ROYALTY   2021-2022  ✗ KILLED</a:t>
            </a:r>
            <a:endParaRPr b="0" lang="en-GB" sz="1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391"/>
              </a:spcAft>
              <a:buNone/>
            </a:pP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  </a:t>
            </a:r>
            <a:r>
              <a:rPr b="0" lang="en-US" sz="1300" spc="-1" strike="noStrike">
                <a:solidFill>
                  <a:srgbClr val="e8e8e8"/>
                </a:solidFill>
                <a:latin typeface="Courier New"/>
              </a:rPr>
              <a:t>HB2553     PROTECTING HOUSEHOLD PRIVACY     2021-2022  ✗ KILLED</a:t>
            </a:r>
            <a:endParaRPr b="0" lang="en-GB" sz="1300" spc="-1" strike="noStrike">
              <a:latin typeface="Arial"/>
            </a:endParaRPr>
          </a:p>
        </p:txBody>
      </p:sp>
      <p:sp>
        <p:nvSpPr>
          <p:cNvPr id="125" name="TextBox 12"/>
          <p:cNvSpPr/>
          <p:nvPr/>
        </p:nvSpPr>
        <p:spPr>
          <a:xfrm>
            <a:off x="914400" y="5760720"/>
            <a:ext cx="1005804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400" spc="-1" strike="noStrike">
                <a:solidFill>
                  <a:srgbClr val="8b0000"/>
                </a:solidFill>
                <a:latin typeface="Courier New"/>
              </a:rPr>
              <a:t>Right to Know. Geolocation Privacy. Data Privacy. All killed.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4" descr="scratches.png"/>
          <p:cNvPicPr/>
          <p:nvPr/>
        </p:nvPicPr>
        <p:blipFill>
          <a:blip r:embed="rId4"/>
          <a:stretch/>
        </p:blipFill>
        <p:spPr>
          <a:xfrm>
            <a:off x="1828800" y="91440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130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31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32" name="Picture 7" descr="dangling_spider.gif"/>
          <p:cNvPicPr/>
          <p:nvPr/>
        </p:nvPicPr>
        <p:blipFill>
          <a:blip r:embed="rId7"/>
          <a:stretch/>
        </p:blipFill>
        <p:spPr>
          <a:xfrm>
            <a:off x="11612880" y="1828800"/>
            <a:ext cx="548280" cy="191988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8" descr="blinking_eyes.gif"/>
          <p:cNvPicPr/>
          <p:nvPr/>
        </p:nvPicPr>
        <p:blipFill>
          <a:blip r:embed="rId8"/>
          <a:stretch/>
        </p:blipFill>
        <p:spPr>
          <a:xfrm>
            <a:off x="4754880" y="640080"/>
            <a:ext cx="2559960" cy="1005480"/>
          </a:xfrm>
          <a:prstGeom prst="rect">
            <a:avLst/>
          </a:prstGeom>
          <a:ln w="0">
            <a:noFill/>
          </a:ln>
        </p:spPr>
      </p:pic>
      <p:sp>
        <p:nvSpPr>
          <p:cNvPr id="134" name="TextBox 9"/>
          <p:cNvSpPr/>
          <p:nvPr/>
        </p:nvSpPr>
        <p:spPr>
          <a:xfrm>
            <a:off x="457200" y="1253520"/>
            <a:ext cx="109724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000" spc="-1" strike="noStrike">
                <a:solidFill>
                  <a:srgbClr val="cc0000"/>
                </a:solidFill>
                <a:latin typeface="Courier New"/>
              </a:rPr>
              <a:t>THE ECHO CHAMBER</a:t>
            </a:r>
            <a:endParaRPr b="0" lang="en-GB" sz="3000" spc="-1" strike="noStrike">
              <a:latin typeface="Arial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1371600" y="1828800"/>
            <a:ext cx="9143640" cy="44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No privacy law → they collect your data freely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Your data → builds your profile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Your profile → feeds you more of the same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More of the same → echo chamber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Echo chamber → polarization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Polarization → you scroll more → they profit more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Americans with ideologically consistent views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have DOUBLED in two decades. (Pew Research)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The less you know, the easier it is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541"/>
              </a:spcAft>
              <a:buNone/>
            </a:pPr>
            <a:r>
              <a:rPr b="0" lang="en-US" sz="1800" spc="-1" strike="noStrike">
                <a:solidFill>
                  <a:srgbClr val="e8e8e8"/>
                </a:solidFill>
                <a:latin typeface="Courier New"/>
              </a:rPr>
              <a:t>to keep you scrolling — and polarized.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" descr="blood_drip.gif"/>
          <p:cNvPicPr/>
          <p:nvPr/>
        </p:nvPicPr>
        <p:blipFill>
          <a:blip r:embed="rId1"/>
          <a:stretch/>
        </p:blipFill>
        <p:spPr>
          <a:xfrm>
            <a:off x="0" y="0"/>
            <a:ext cx="12191400" cy="639720"/>
          </a:xfrm>
          <a:prstGeom prst="rect">
            <a:avLst/>
          </a:prstGeom>
          <a:ln w="0">
            <a:noFill/>
          </a:ln>
        </p:spPr>
      </p:pic>
      <p:pic>
        <p:nvPicPr>
          <p:cNvPr id="137" name="Picture 2" descr="cobweb_top_left.png"/>
          <p:cNvPicPr/>
          <p:nvPr/>
        </p:nvPicPr>
        <p:blipFill>
          <a:blip r:embed="rId2"/>
          <a:stretch/>
        </p:blipFill>
        <p:spPr>
          <a:xfrm>
            <a:off x="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3" descr="cobweb_top_right.png"/>
          <p:cNvPicPr/>
          <p:nvPr/>
        </p:nvPicPr>
        <p:blipFill>
          <a:blip r:embed="rId3"/>
          <a:stretch/>
        </p:blipFill>
        <p:spPr>
          <a:xfrm>
            <a:off x="9875520" y="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4" descr="scratches.png"/>
          <p:cNvPicPr/>
          <p:nvPr/>
        </p:nvPicPr>
        <p:blipFill>
          <a:blip r:embed="rId4"/>
          <a:stretch/>
        </p:blipFill>
        <p:spPr>
          <a:xfrm>
            <a:off x="1800000" y="731880"/>
            <a:ext cx="8229240" cy="5028840"/>
          </a:xfrm>
          <a:prstGeom prst="rect">
            <a:avLst/>
          </a:prstGeom>
          <a:ln w="0">
            <a:noFill/>
          </a:ln>
        </p:spPr>
      </p:pic>
      <p:pic>
        <p:nvPicPr>
          <p:cNvPr id="140" name="Picture 5" descr="blinking_eyes_small.gif"/>
          <p:cNvPicPr/>
          <p:nvPr/>
        </p:nvPicPr>
        <p:blipFill>
          <a:blip r:embed="rId5"/>
          <a:stretch/>
        </p:blipFill>
        <p:spPr>
          <a:xfrm>
            <a:off x="18288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6" descr="blinking_eyes_small.gif"/>
          <p:cNvPicPr/>
          <p:nvPr/>
        </p:nvPicPr>
        <p:blipFill>
          <a:blip r:embed="rId6"/>
          <a:stretch/>
        </p:blipFill>
        <p:spPr>
          <a:xfrm>
            <a:off x="10789920" y="6126480"/>
            <a:ext cx="1188360" cy="502560"/>
          </a:xfrm>
          <a:prstGeom prst="rect">
            <a:avLst/>
          </a:prstGeom>
          <a:ln w="0">
            <a:noFill/>
          </a:ln>
        </p:spPr>
      </p:pic>
      <p:pic>
        <p:nvPicPr>
          <p:cNvPr id="142" name="Picture 7" descr="dangling_spider.gif"/>
          <p:cNvPicPr/>
          <p:nvPr/>
        </p:nvPicPr>
        <p:blipFill>
          <a:blip r:embed="rId7"/>
          <a:stretch/>
        </p:blipFill>
        <p:spPr>
          <a:xfrm>
            <a:off x="5760720" y="45720"/>
            <a:ext cx="548280" cy="1919880"/>
          </a:xfrm>
          <a:prstGeom prst="rect">
            <a:avLst/>
          </a:prstGeom>
          <a:ln w="0">
            <a:noFill/>
          </a:ln>
        </p:spPr>
      </p:pic>
      <p:pic>
        <p:nvPicPr>
          <p:cNvPr id="143" name="Picture 8" descr="blinking_eyes.gif"/>
          <p:cNvPicPr/>
          <p:nvPr/>
        </p:nvPicPr>
        <p:blipFill>
          <a:blip r:embed="rId8"/>
          <a:stretch/>
        </p:blipFill>
        <p:spPr>
          <a:xfrm>
            <a:off x="1371600" y="457200"/>
            <a:ext cx="2559960" cy="1005480"/>
          </a:xfrm>
          <a:prstGeom prst="rect">
            <a:avLst/>
          </a:prstGeom>
          <a:ln w="0">
            <a:noFill/>
          </a:ln>
        </p:spPr>
      </p:pic>
      <p:pic>
        <p:nvPicPr>
          <p:cNvPr id="144" name="Picture 9" descr="blinking_eyes.gif"/>
          <p:cNvPicPr/>
          <p:nvPr/>
        </p:nvPicPr>
        <p:blipFill>
          <a:blip r:embed="rId9"/>
          <a:stretch/>
        </p:blipFill>
        <p:spPr>
          <a:xfrm>
            <a:off x="8229600" y="457200"/>
            <a:ext cx="2559960" cy="1005480"/>
          </a:xfrm>
          <a:prstGeom prst="rect">
            <a:avLst/>
          </a:prstGeom>
          <a:ln w="0">
            <a:noFill/>
          </a:ln>
        </p:spPr>
      </p:pic>
      <p:pic>
        <p:nvPicPr>
          <p:cNvPr id="145" name="Picture 10" descr="blinking_eyes.gif"/>
          <p:cNvPicPr/>
          <p:nvPr/>
        </p:nvPicPr>
        <p:blipFill>
          <a:blip r:embed="rId10"/>
          <a:stretch/>
        </p:blipFill>
        <p:spPr>
          <a:xfrm>
            <a:off x="4754880" y="5029200"/>
            <a:ext cx="2559960" cy="100548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11" descr="glitch_overlay.gif"/>
          <p:cNvPicPr/>
          <p:nvPr/>
        </p:nvPicPr>
        <p:blipFill>
          <a:blip r:embed="rId11"/>
          <a:stretch/>
        </p:blipFill>
        <p:spPr>
          <a:xfrm>
            <a:off x="921960" y="2285640"/>
            <a:ext cx="10058040" cy="73116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12" descr="cobweb_bottom_left.png"/>
          <p:cNvPicPr/>
          <p:nvPr/>
        </p:nvPicPr>
        <p:blipFill>
          <a:blip r:embed="rId12"/>
          <a:stretch/>
        </p:blipFill>
        <p:spPr>
          <a:xfrm>
            <a:off x="0" y="4572000"/>
            <a:ext cx="2285640" cy="228564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3" descr="cobweb_bottom_right.png"/>
          <p:cNvPicPr/>
          <p:nvPr/>
        </p:nvPicPr>
        <p:blipFill>
          <a:blip r:embed="rId13"/>
          <a:stretch/>
        </p:blipFill>
        <p:spPr>
          <a:xfrm>
            <a:off x="9875520" y="4572000"/>
            <a:ext cx="2285640" cy="2285640"/>
          </a:xfrm>
          <a:prstGeom prst="rect">
            <a:avLst/>
          </a:prstGeom>
          <a:ln w="0">
            <a:noFill/>
          </a:ln>
        </p:spPr>
      </p:pic>
      <p:sp>
        <p:nvSpPr>
          <p:cNvPr id="149" name="TextBox 14"/>
          <p:cNvSpPr/>
          <p:nvPr/>
        </p:nvSpPr>
        <p:spPr>
          <a:xfrm>
            <a:off x="900000" y="2285640"/>
            <a:ext cx="100580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i="1" lang="en-US" sz="2800" spc="-1" strike="noStrike">
                <a:solidFill>
                  <a:srgbClr val="ffffff"/>
                </a:solidFill>
                <a:latin typeface="Courier New"/>
              </a:rPr>
              <a:t>"Big Brother is watching..."</a:t>
            </a:r>
            <a:endParaRPr b="0" lang="en-GB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15"/>
          <p:cNvSpPr/>
          <p:nvPr/>
        </p:nvSpPr>
        <p:spPr>
          <a:xfrm>
            <a:off x="914400" y="3200400"/>
            <a:ext cx="10058040" cy="14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600" spc="-1" strike="noStrike">
                <a:solidFill>
                  <a:srgbClr val="ff0000"/>
                </a:solidFill>
                <a:latin typeface="Courier New"/>
              </a:rPr>
              <a:t>NOW YOU KNOW</a:t>
            </a:r>
            <a:br>
              <a:rPr sz="4600"/>
            </a:br>
            <a:r>
              <a:rPr b="1" lang="en-US" sz="4600" spc="-1" strike="noStrike">
                <a:solidFill>
                  <a:srgbClr val="ff0000"/>
                </a:solidFill>
                <a:latin typeface="Courier New"/>
              </a:rPr>
              <a:t>WHO BIG BROTHER IS.</a:t>
            </a:r>
            <a:endParaRPr b="0" lang="en-GB" sz="4600" spc="-1" strike="noStrike">
              <a:solidFill>
                <a:srgbClr val="ff0000"/>
              </a:solidFill>
              <a:latin typeface="Arial"/>
            </a:endParaRPr>
          </a:p>
        </p:txBody>
      </p:sp>
      <p:sp>
        <p:nvSpPr>
          <p:cNvPr id="151" name="TextBox 18"/>
          <p:cNvSpPr/>
          <p:nvPr/>
        </p:nvSpPr>
        <p:spPr>
          <a:xfrm>
            <a:off x="1828800" y="5760720"/>
            <a:ext cx="8229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8b0000"/>
                </a:solidFill>
                <a:latin typeface="Courier New"/>
              </a:rPr>
              <a:t>▓▒░  </a:t>
            </a:r>
            <a:r>
              <a:rPr b="0" lang="en-US" sz="1800" spc="-1" strike="noStrike">
                <a:solidFill>
                  <a:srgbClr val="8b0000"/>
                </a:solidFill>
                <a:latin typeface="Courier New"/>
              </a:rPr>
              <a:t>ARE YOU STILL IN CHARGE OF WHAT YOU SEE?  ░▒▓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2026-04-20T19:25:09Z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